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7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CFDE8E-6717-E9BA-3B52-711441E7A0E8}" v="2" dt="2025-12-08T16:15:21.8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x, Mr. Daniel Patrick" userId="S::df99571n@pace.edu::744adb81-d2cb-494f-8d7a-609985a97258" providerId="AD" clId="Web-{EBCFDE8E-6717-E9BA-3B52-711441E7A0E8}"/>
    <pc:docChg chg="modSld">
      <pc:chgData name="Fox, Mr. Daniel Patrick" userId="S::df99571n@pace.edu::744adb81-d2cb-494f-8d7a-609985a97258" providerId="AD" clId="Web-{EBCFDE8E-6717-E9BA-3B52-711441E7A0E8}" dt="2025-12-08T16:15:21.821" v="1" actId="14100"/>
      <pc:docMkLst>
        <pc:docMk/>
      </pc:docMkLst>
      <pc:sldChg chg="modSp">
        <pc:chgData name="Fox, Mr. Daniel Patrick" userId="S::df99571n@pace.edu::744adb81-d2cb-494f-8d7a-609985a97258" providerId="AD" clId="Web-{EBCFDE8E-6717-E9BA-3B52-711441E7A0E8}" dt="2025-12-08T16:15:21.821" v="1" actId="14100"/>
        <pc:sldMkLst>
          <pc:docMk/>
          <pc:sldMk cId="3576670602" sldId="257"/>
        </pc:sldMkLst>
        <pc:spChg chg="mod">
          <ac:chgData name="Fox, Mr. Daniel Patrick" userId="S::df99571n@pace.edu::744adb81-d2cb-494f-8d7a-609985a97258" providerId="AD" clId="Web-{EBCFDE8E-6717-E9BA-3B52-711441E7A0E8}" dt="2025-12-08T16:15:21.821" v="1" actId="14100"/>
          <ac:spMkLst>
            <pc:docMk/>
            <pc:sldMk cId="3576670602" sldId="257"/>
            <ac:spMk id="18" creationId="{C41990CA-F7C7-C89F-CBE9-49B57B32704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38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03B92E7A-CBDD-DFA2-025A-E113EFAB9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927" y="622826"/>
            <a:ext cx="2203450" cy="804863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Xero Application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4">
            <a:extLst>
              <a:ext uri="{FF2B5EF4-FFF2-40B4-BE49-F238E27FC236}">
                <a16:creationId xmlns:a16="http://schemas.microsoft.com/office/drawing/2014/main" id="{7B84050E-4ECB-794C-D2E4-FF9E83BA2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0813" y="3277602"/>
            <a:ext cx="673175" cy="552573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 Accounting reports</a:t>
            </a:r>
            <a:endParaRPr kumimoji="0" lang="en-US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Google Shape;69;p13">
            <a:extLst>
              <a:ext uri="{FF2B5EF4-FFF2-40B4-BE49-F238E27FC236}">
                <a16:creationId xmlns:a16="http://schemas.microsoft.com/office/drawing/2014/main" id="{3E8B839E-AEEE-45F8-808E-D8F1DC18E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0092" y="2881985"/>
            <a:ext cx="731229" cy="296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/>
                <a:ea typeface="Arial" panose="020B0604020202020204" pitchFamily="34" charset="0"/>
                <a:cs typeface="Times New Roman"/>
              </a:rPr>
              <a:t>Team </a:t>
            </a:r>
            <a:r>
              <a:rPr lang="en-US" altLang="en-US" sz="1200">
                <a:solidFill>
                  <a:srgbClr val="FF0000"/>
                </a:solidFill>
                <a:latin typeface="Times New Roman"/>
                <a:ea typeface="Arial" panose="020B0604020202020204" pitchFamily="34" charset="0"/>
                <a:cs typeface="Times New Roman"/>
              </a:rPr>
              <a:t>1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C9359C4-A0E5-4A31-2128-71E37B69A54E}"/>
              </a:ext>
            </a:extLst>
          </p:cNvPr>
          <p:cNvCxnSpPr>
            <a:cxnSpLocks/>
          </p:cNvCxnSpPr>
          <p:nvPr/>
        </p:nvCxnSpPr>
        <p:spPr>
          <a:xfrm flipH="1">
            <a:off x="4537744" y="1427689"/>
            <a:ext cx="6908" cy="46482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AutoShape 19">
            <a:extLst>
              <a:ext uri="{FF2B5EF4-FFF2-40B4-BE49-F238E27FC236}">
                <a16:creationId xmlns:a16="http://schemas.microsoft.com/office/drawing/2014/main" id="{38ED034E-5EA1-7F55-8F6A-5EC80F258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78" y="3295687"/>
            <a:ext cx="755650" cy="559473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02 User Management &amp; Auth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AutoShape 18">
            <a:extLst>
              <a:ext uri="{FF2B5EF4-FFF2-40B4-BE49-F238E27FC236}">
                <a16:creationId xmlns:a16="http://schemas.microsoft.com/office/drawing/2014/main" id="{9195B928-8CA3-0318-6B52-FA8D99EDC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375" y="2323643"/>
            <a:ext cx="682948" cy="559479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04 Financial Data Entry</a:t>
            </a:r>
            <a:endParaRPr kumimoji="0" lang="en-US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15">
            <a:extLst>
              <a:ext uri="{FF2B5EF4-FFF2-40B4-BE49-F238E27FC236}">
                <a16:creationId xmlns:a16="http://schemas.microsoft.com/office/drawing/2014/main" id="{0146302A-B91B-3C99-40A9-3EF6A2EF7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5658" y="3293762"/>
            <a:ext cx="745698" cy="527892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 Accounts payable 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C41990CA-F7C7-C89F-CBE9-49B57B327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08" y="3295687"/>
            <a:ext cx="639763" cy="559474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01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Dashboard 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F5F99B3-395A-2EC6-408C-52B6CB261B13}"/>
              </a:ext>
            </a:extLst>
          </p:cNvPr>
          <p:cNvCxnSpPr>
            <a:cxnSpLocks/>
          </p:cNvCxnSpPr>
          <p:nvPr/>
        </p:nvCxnSpPr>
        <p:spPr>
          <a:xfrm flipH="1">
            <a:off x="8038970" y="1891003"/>
            <a:ext cx="19538" cy="140275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974B563-4772-D2FE-BB19-254FAE93DF52}"/>
              </a:ext>
            </a:extLst>
          </p:cNvPr>
          <p:cNvCxnSpPr>
            <a:cxnSpLocks/>
          </p:cNvCxnSpPr>
          <p:nvPr/>
        </p:nvCxnSpPr>
        <p:spPr>
          <a:xfrm flipV="1">
            <a:off x="392715" y="1892509"/>
            <a:ext cx="8449709" cy="13639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29">
            <a:extLst>
              <a:ext uri="{FF2B5EF4-FFF2-40B4-BE49-F238E27FC236}">
                <a16:creationId xmlns:a16="http://schemas.microsoft.com/office/drawing/2014/main" id="{536F0E5D-2484-89A7-7BDA-4D1E540BD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177" y="254905"/>
            <a:ext cx="5237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Xero Application: Functional Decomposition Diagram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2" name="Rectangle 45">
            <a:extLst>
              <a:ext uri="{FF2B5EF4-FFF2-40B4-BE49-F238E27FC236}">
                <a16:creationId xmlns:a16="http://schemas.microsoft.com/office/drawing/2014/main" id="{E7E7C999-04DF-87F1-C247-5BABD6BDB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4" name="AutoShape 15">
            <a:extLst>
              <a:ext uri="{FF2B5EF4-FFF2-40B4-BE49-F238E27FC236}">
                <a16:creationId xmlns:a16="http://schemas.microsoft.com/office/drawing/2014/main" id="{94D7F61D-8F3C-66C1-F57A-B95D12F8B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8091" y="3286150"/>
            <a:ext cx="657590" cy="544025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 Bills to Pay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AutoShape 15">
            <a:extLst>
              <a:ext uri="{FF2B5EF4-FFF2-40B4-BE49-F238E27FC236}">
                <a16:creationId xmlns:a16="http://schemas.microsoft.com/office/drawing/2014/main" id="{B0FB12B6-8660-3D93-7CAB-7F4FC93C0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826" y="3296930"/>
            <a:ext cx="755650" cy="544712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09 Expense Claims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68783B7-14EB-A17B-6AFB-AA8D70678A45}"/>
              </a:ext>
            </a:extLst>
          </p:cNvPr>
          <p:cNvCxnSpPr>
            <a:cxnSpLocks/>
          </p:cNvCxnSpPr>
          <p:nvPr/>
        </p:nvCxnSpPr>
        <p:spPr>
          <a:xfrm>
            <a:off x="6546338" y="1892509"/>
            <a:ext cx="4885" cy="138659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AutoShape 15">
            <a:extLst>
              <a:ext uri="{FF2B5EF4-FFF2-40B4-BE49-F238E27FC236}">
                <a16:creationId xmlns:a16="http://schemas.microsoft.com/office/drawing/2014/main" id="{8C9DC38F-0830-2F74-84EA-524416A4B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4968" y="2349315"/>
            <a:ext cx="774642" cy="534493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08 Purchase Orders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1A3EC8D-3434-20D0-8C32-EDBB36B96105}"/>
              </a:ext>
            </a:extLst>
          </p:cNvPr>
          <p:cNvCxnSpPr>
            <a:cxnSpLocks/>
          </p:cNvCxnSpPr>
          <p:nvPr/>
        </p:nvCxnSpPr>
        <p:spPr>
          <a:xfrm>
            <a:off x="5762289" y="1745971"/>
            <a:ext cx="0" cy="603344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AutoShape 15">
            <a:extLst>
              <a:ext uri="{FF2B5EF4-FFF2-40B4-BE49-F238E27FC236}">
                <a16:creationId xmlns:a16="http://schemas.microsoft.com/office/drawing/2014/main" id="{DAA3CC15-8A08-393E-2F52-BD0C084CF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5588" y="3295681"/>
            <a:ext cx="807001" cy="534494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07 Accounts Receivable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AutoShape 15">
            <a:extLst>
              <a:ext uri="{FF2B5EF4-FFF2-40B4-BE49-F238E27FC236}">
                <a16:creationId xmlns:a16="http://schemas.microsoft.com/office/drawing/2014/main" id="{909647BE-71C0-A474-140C-052B90AB1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6928" y="3295681"/>
            <a:ext cx="709833" cy="534494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06 Invoicing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AutoShape 15">
            <a:extLst>
              <a:ext uri="{FF2B5EF4-FFF2-40B4-BE49-F238E27FC236}">
                <a16:creationId xmlns:a16="http://schemas.microsoft.com/office/drawing/2014/main" id="{AF857626-B44D-D1CD-3EC3-5FB6C9B43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8945" y="2348066"/>
            <a:ext cx="839271" cy="535515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05 Bank Feeds &amp; Reconciliations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8" name="AutoShape 18">
            <a:extLst>
              <a:ext uri="{FF2B5EF4-FFF2-40B4-BE49-F238E27FC236}">
                <a16:creationId xmlns:a16="http://schemas.microsoft.com/office/drawing/2014/main" id="{FFC9144C-36A8-5070-1279-40AAE39CC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9732" y="3296808"/>
            <a:ext cx="682948" cy="558352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03 Settings &amp; Config</a:t>
            </a:r>
            <a:endParaRPr kumimoji="0" lang="en-US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E555781-C648-F39A-E930-6AFB6109E9C8}"/>
              </a:ext>
            </a:extLst>
          </p:cNvPr>
          <p:cNvCxnSpPr>
            <a:cxnSpLocks/>
          </p:cNvCxnSpPr>
          <p:nvPr/>
        </p:nvCxnSpPr>
        <p:spPr>
          <a:xfrm>
            <a:off x="1794166" y="1905463"/>
            <a:ext cx="0" cy="1380687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DC58429-2CEC-FB4D-E489-74DDC5C8877D}"/>
              </a:ext>
            </a:extLst>
          </p:cNvPr>
          <p:cNvCxnSpPr>
            <a:cxnSpLocks/>
          </p:cNvCxnSpPr>
          <p:nvPr/>
        </p:nvCxnSpPr>
        <p:spPr>
          <a:xfrm>
            <a:off x="1022740" y="1906097"/>
            <a:ext cx="0" cy="1389584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B250477-97E4-98FE-779B-C822FBDCB246}"/>
              </a:ext>
            </a:extLst>
          </p:cNvPr>
          <p:cNvCxnSpPr>
            <a:cxnSpLocks/>
          </p:cNvCxnSpPr>
          <p:nvPr/>
        </p:nvCxnSpPr>
        <p:spPr>
          <a:xfrm>
            <a:off x="392715" y="1899136"/>
            <a:ext cx="0" cy="139654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A9BBD2-FE0D-9E32-9BA6-E3D1859A7AE6}"/>
              </a:ext>
            </a:extLst>
          </p:cNvPr>
          <p:cNvCxnSpPr>
            <a:cxnSpLocks/>
          </p:cNvCxnSpPr>
          <p:nvPr/>
        </p:nvCxnSpPr>
        <p:spPr>
          <a:xfrm>
            <a:off x="2568501" y="1906097"/>
            <a:ext cx="4886" cy="41841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19708D-0FF9-3800-4AA8-8C23D378B5DA}"/>
              </a:ext>
            </a:extLst>
          </p:cNvPr>
          <p:cNvCxnSpPr>
            <a:cxnSpLocks/>
          </p:cNvCxnSpPr>
          <p:nvPr/>
        </p:nvCxnSpPr>
        <p:spPr>
          <a:xfrm>
            <a:off x="3371025" y="1901213"/>
            <a:ext cx="14654" cy="45261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C3F7695-A4B5-0108-FB13-516987A20E37}"/>
              </a:ext>
            </a:extLst>
          </p:cNvPr>
          <p:cNvCxnSpPr>
            <a:cxnSpLocks/>
          </p:cNvCxnSpPr>
          <p:nvPr/>
        </p:nvCxnSpPr>
        <p:spPr>
          <a:xfrm>
            <a:off x="4151844" y="1906097"/>
            <a:ext cx="0" cy="1380687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3344BB9-8AB5-B585-54F5-06CA38828D67}"/>
              </a:ext>
            </a:extLst>
          </p:cNvPr>
          <p:cNvCxnSpPr>
            <a:cxnSpLocks/>
          </p:cNvCxnSpPr>
          <p:nvPr/>
        </p:nvCxnSpPr>
        <p:spPr>
          <a:xfrm>
            <a:off x="4954624" y="1906097"/>
            <a:ext cx="0" cy="1380687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913C23D-4164-D62B-40E7-D0BFAF692913}"/>
              </a:ext>
            </a:extLst>
          </p:cNvPr>
          <p:cNvCxnSpPr>
            <a:cxnSpLocks/>
          </p:cNvCxnSpPr>
          <p:nvPr/>
        </p:nvCxnSpPr>
        <p:spPr>
          <a:xfrm>
            <a:off x="7296886" y="1899136"/>
            <a:ext cx="0" cy="1380687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38A10F-08FB-E1BE-F20B-794D8AA77780}"/>
              </a:ext>
            </a:extLst>
          </p:cNvPr>
          <p:cNvCxnSpPr>
            <a:cxnSpLocks/>
          </p:cNvCxnSpPr>
          <p:nvPr/>
        </p:nvCxnSpPr>
        <p:spPr>
          <a:xfrm>
            <a:off x="8845208" y="1906097"/>
            <a:ext cx="0" cy="1380687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34ED47E-2524-4185-E781-39BC86073855}"/>
              </a:ext>
            </a:extLst>
          </p:cNvPr>
          <p:cNvSpPr/>
          <p:nvPr/>
        </p:nvSpPr>
        <p:spPr>
          <a:xfrm>
            <a:off x="2138715" y="2143746"/>
            <a:ext cx="4088200" cy="104187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70E1C4-A02E-7E44-BE80-53F3599EA791}"/>
              </a:ext>
            </a:extLst>
          </p:cNvPr>
          <p:cNvSpPr txBox="1"/>
          <p:nvPr/>
        </p:nvSpPr>
        <p:spPr>
          <a:xfrm>
            <a:off x="2276382" y="3278264"/>
            <a:ext cx="1321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solidFill>
                  <a:srgbClr val="FF0000"/>
                </a:solidFill>
              </a:rPr>
              <a:t>Testing Scope</a:t>
            </a:r>
          </a:p>
        </p:txBody>
      </p:sp>
      <p:sp>
        <p:nvSpPr>
          <p:cNvPr id="2" name="Google Shape;69;p13">
            <a:extLst>
              <a:ext uri="{FF2B5EF4-FFF2-40B4-BE49-F238E27FC236}">
                <a16:creationId xmlns:a16="http://schemas.microsoft.com/office/drawing/2014/main" id="{F5514BEF-2E26-D673-8AC1-F4E1EE604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2783" y="2881984"/>
            <a:ext cx="731229" cy="296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/>
                <a:ea typeface="Arial" panose="020B0604020202020204" pitchFamily="34" charset="0"/>
                <a:cs typeface="Times New Roman"/>
              </a:rPr>
              <a:t>Team </a:t>
            </a:r>
            <a:r>
              <a:rPr lang="en-US" altLang="en-US" sz="1200">
                <a:solidFill>
                  <a:srgbClr val="FF0000"/>
                </a:solidFill>
                <a:latin typeface="Times New Roman"/>
                <a:ea typeface="Arial" panose="020B0604020202020204" pitchFamily="34" charset="0"/>
                <a:cs typeface="Times New Roman"/>
              </a:rPr>
              <a:t>1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Google Shape;69;p13">
            <a:extLst>
              <a:ext uri="{FF2B5EF4-FFF2-40B4-BE49-F238E27FC236}">
                <a16:creationId xmlns:a16="http://schemas.microsoft.com/office/drawing/2014/main" id="{E0382E02-2471-8F61-1710-A2E05D779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322" y="2886869"/>
            <a:ext cx="731229" cy="296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/>
                <a:ea typeface="Arial" panose="020B0604020202020204" pitchFamily="34" charset="0"/>
                <a:cs typeface="Times New Roman"/>
              </a:rPr>
              <a:t>Team </a:t>
            </a:r>
            <a:r>
              <a:rPr lang="en-US" altLang="en-US" sz="1200">
                <a:solidFill>
                  <a:srgbClr val="FF0000"/>
                </a:solidFill>
                <a:latin typeface="Times New Roman"/>
                <a:ea typeface="Arial" panose="020B0604020202020204" pitchFamily="34" charset="0"/>
                <a:cs typeface="Times New Roman"/>
              </a:rPr>
              <a:t>1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67060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3</cp:revision>
  <dcterms:modified xsi:type="dcterms:W3CDTF">2025-12-08T16:15:30Z</dcterms:modified>
</cp:coreProperties>
</file>